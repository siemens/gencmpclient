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1212" r:id="rId5"/>
    <p:sldId id="2147483632" r:id="rId6"/>
    <p:sldId id="1240" r:id="rId7"/>
  </p:sldIdLst>
  <p:sldSz cx="12192000" cy="6858000"/>
  <p:notesSz cx="6858000" cy="9144000"/>
  <p:defaultTextStyle>
    <a:defPPr>
      <a:defRPr lang="en-US"/>
    </a:defPPr>
    <a:lvl1pPr>
      <a:spcBef>
        <a:spcPts val="0"/>
      </a:spcBef>
      <a:buClr>
        <a:schemeClr val="accent1"/>
      </a:buClr>
      <a:defRPr sz="1800"/>
    </a:lvl1pPr>
    <a:lvl2pPr marL="1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2pPr>
    <a:lvl3pPr marL="3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3pPr>
    <a:lvl4pPr marL="5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4pPr>
    <a:lvl5pPr marL="72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5pPr>
    <a:lvl6pPr marL="90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6pPr>
    <a:lvl7pPr marL="10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7pPr>
    <a:lvl8pPr marL="12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8pPr>
    <a:lvl9pPr marL="14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C9D50C-2C65-BC8A-0EF2-6FCD947CF750}" name="Railean, Alexander (FT RPD CST SEA-DE)" initials="RS" userId="S::alexander.railean@siemens.com::44d5efe9-e1f4-4241-a308-a9689c2edeee" providerId="AD"/>
  <p188:author id="{8B49AC1C-C22A-40CF-6D51-A7E169BA25B0}" name="Ranjan, Rajeev (FT RPD CST SEA-DE)" initials="RR" userId="S::ranjan.rajeev@siemens.com::33a9ef1e-787b-4b1d-a9e4-dc56459d51d7" providerId="AD"/>
  <p188:author id="{E15D01AA-962C-EDA4-CA6D-1C89C5B71A13}" name="Oprea, Florian Eduard (FT RPD CST SCC-RO)" initials="FO" userId="S::florian.oprea@siemens.com::2d8feb9d-66bc-4381-9119-de8c76e1c5b7" providerId="AD"/>
  <p188:author id="{8CB336E4-632D-154C-3503-C747A346FBFA}" name="von Oheimb, David (FT RPD CST SEA-DE)" initials="vOD(RCSD" userId="S::david.von.oheimb@siemens.com::b10a0893-f9d8-434b-a5e8-6ee626ba944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/>
    <p:restoredTop sz="94694"/>
  </p:normalViewPr>
  <p:slideViewPr>
    <p:cSldViewPr snapToGrid="0">
      <p:cViewPr varScale="1">
        <p:scale>
          <a:sx n="121" d="100"/>
          <a:sy n="121" d="100"/>
        </p:scale>
        <p:origin x="600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>
                <a:solidFill>
                  <a:schemeClr val="tx2"/>
                </a:solidFill>
                <a:latin typeface="+mn-lt"/>
              </a:rPr>
              <a:t>4/13/26</a:t>
            </a:fld>
            <a:endParaRPr lang="en-US" sz="10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  <a:latin typeface="+mn-lt"/>
              </a:rPr>
              <a:t>Hand out</a:t>
            </a:r>
            <a:r>
              <a:rPr lang="en-US" sz="1050">
                <a:solidFill>
                  <a:schemeClr val="accent2"/>
                </a:solidFill>
                <a:latin typeface="+mn-lt"/>
              </a:rPr>
              <a:t> </a:t>
            </a:r>
            <a:fld id="{C92BABF8-1341-4DCB-864A-D83C08BEEAE4}" type="slidenum">
              <a:rPr lang="en-US" sz="1050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05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76FBC1AF-E4C9-412F-9B6D-66CD520F95DB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670C6E6A-0191-4020-A084-BB23C7AE6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092D1760-10AA-43FB-AC0B-074FF5007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BC293230-94BC-41FA-A2D9-E9259B125F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1291605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415397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3361385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111602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3713285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3502166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467889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1908786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3280640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2026 | Kai Che | FT RPD CST SEA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2026 | Kai Che | FT RPD CST SEA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Stage">
            <a:extLst>
              <a:ext uri="{FF2B5EF4-FFF2-40B4-BE49-F238E27FC236}">
                <a16:creationId xmlns:a16="http://schemas.microsoft.com/office/drawing/2014/main" id="{A71FD435-3CF0-4700-A204-51B8FECDB0E5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BDD73C6A-6099-483E-9C34-F604024F2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54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A236A90B-8F03-45C0-87DD-5479E8376B64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CFA8B97-DE99-4B15-8C8C-3748FA022B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43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40C63E25-48A4-43B2-BEE6-D2FE79309C83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gradFill>
            <a:gsLst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EN"/>
          </a:p>
        </p:txBody>
      </p:sp>
      <p:sp>
        <p:nvSpPr>
          <p:cNvPr id="9" name="Color Stage">
            <a:extLst>
              <a:ext uri="{FF2B5EF4-FFF2-40B4-BE49-F238E27FC236}">
                <a16:creationId xmlns:a16="http://schemas.microsoft.com/office/drawing/2014/main" id="{0C524D66-9942-450A-A90F-E7A0CC42EC73}"/>
              </a:ext>
            </a:extLst>
          </p:cNvPr>
          <p:cNvSpPr/>
          <p:nvPr userDrawn="1"/>
        </p:nvSpPr>
        <p:spPr>
          <a:xfrm>
            <a:off x="0" y="1414463"/>
            <a:ext cx="12192000" cy="4752337"/>
          </a:xfrm>
          <a:prstGeom prst="rect">
            <a:avLst/>
          </a:prstGeom>
          <a:gradFill flip="none" rotWithShape="1">
            <a:gsLst>
              <a:gs pos="0">
                <a:srgbClr val="00FFB9"/>
              </a:gs>
              <a:gs pos="100000">
                <a:schemeClr val="bg2">
                  <a:alpha val="0"/>
                </a:schemeClr>
              </a:gs>
              <a:gs pos="40000">
                <a:srgbClr val="00FFB9">
                  <a:alpha val="5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83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63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 userDrawn="1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07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dark (Text 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981D8F55-811B-AEDF-5E04-DCFE25B08B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34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smal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0D24217-CDAA-9414-DB12-8FECD39730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21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70697368-7933-D4EC-C605-5BEF35329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58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F8BBD80-F603-890B-5CCC-27FC59B160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79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53CF7CF-3A43-5B1E-4240-BD93149833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23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6876CD70-E828-5653-E034-0E836EE5EA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56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 (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2E6EBD77-9439-0F2D-3512-7EAC1BD87F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96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DBDDA68C-D369-4260-610E-00284B3EA6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C1B6"/>
          </a:solidFill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 anchorCtr="0"/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9pPr>
          </a:lstStyle>
          <a:p>
            <a:pPr lvl="0">
              <a:buClr>
                <a:schemeClr val="accent1"/>
              </a:buClr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219FA372-8978-3FA6-7DE8-9278A9E578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6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A8C0A65-FABA-4781-9F01-D545584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-540000"/>
            <a:ext cx="9863138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2886B6C-3288-1F00-A9B6-D56E01FC2F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Kai Che | FT RPD CST SEA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24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2026 | Kai Che | FT RPD CST SEA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93" r:id="rId4"/>
    <p:sldLayoutId id="2147483794" r:id="rId5"/>
    <p:sldLayoutId id="2147483795" r:id="rId6"/>
    <p:sldLayoutId id="2147483773" r:id="rId7"/>
    <p:sldLayoutId id="2147483774" r:id="rId8"/>
    <p:sldLayoutId id="2147483775" r:id="rId9"/>
    <p:sldLayoutId id="2147483784" r:id="rId10"/>
    <p:sldLayoutId id="2147483785" r:id="rId11"/>
    <p:sldLayoutId id="2147483786" r:id="rId12"/>
    <p:sldLayoutId id="2147483724" r:id="rId13"/>
    <p:sldLayoutId id="2147483725" r:id="rId14"/>
    <p:sldLayoutId id="2147483726" r:id="rId15"/>
    <p:sldLayoutId id="2147483730" r:id="rId16"/>
    <p:sldLayoutId id="2147483731" r:id="rId17"/>
    <p:sldLayoutId id="2147483732" r:id="rId18"/>
    <p:sldLayoutId id="2147483727" r:id="rId19"/>
    <p:sldLayoutId id="2147483728" r:id="rId20"/>
    <p:sldLayoutId id="2147483729" r:id="rId21"/>
    <p:sldLayoutId id="2147483736" r:id="rId22"/>
    <p:sldLayoutId id="2147483737" r:id="rId23"/>
    <p:sldLayoutId id="2147483738" r:id="rId24"/>
    <p:sldLayoutId id="2147483753" r:id="rId25"/>
    <p:sldLayoutId id="2147483754" r:id="rId26"/>
    <p:sldLayoutId id="2147483755" r:id="rId27"/>
    <p:sldLayoutId id="2147483739" r:id="rId28"/>
    <p:sldLayoutId id="2147483740" r:id="rId29"/>
    <p:sldLayoutId id="2147483741" r:id="rId30"/>
    <p:sldLayoutId id="2147483756" r:id="rId31"/>
    <p:sldLayoutId id="2147483744" r:id="rId32"/>
    <p:sldLayoutId id="2147483691" r:id="rId33"/>
    <p:sldLayoutId id="2147483655" r:id="rId34"/>
    <p:sldLayoutId id="2147483692" r:id="rId35"/>
    <p:sldLayoutId id="2147483780" r:id="rId36"/>
    <p:sldLayoutId id="2147483779" r:id="rId37"/>
    <p:sldLayoutId id="2147483677" r:id="rId38"/>
    <p:sldLayoutId id="2147483799" r:id="rId39"/>
    <p:sldLayoutId id="2147483709" r:id="rId40"/>
    <p:sldLayoutId id="2147483800" r:id="rId41"/>
    <p:sldLayoutId id="2147483650" r:id="rId42"/>
    <p:sldLayoutId id="2147483801" r:id="rId43"/>
    <p:sldLayoutId id="2147483665" r:id="rId44"/>
    <p:sldLayoutId id="2147483802" r:id="rId45"/>
    <p:sldLayoutId id="2147483666" r:id="rId46"/>
    <p:sldLayoutId id="2147483803" r:id="rId47"/>
    <p:sldLayoutId id="2147483697" r:id="rId48"/>
    <p:sldLayoutId id="2147483804" r:id="rId49"/>
    <p:sldLayoutId id="2147483698" r:id="rId50"/>
    <p:sldLayoutId id="2147483805" r:id="rId51"/>
    <p:sldLayoutId id="2147483652" r:id="rId52"/>
    <p:sldLayoutId id="2147483806" r:id="rId53"/>
    <p:sldLayoutId id="2147483694" r:id="rId54"/>
    <p:sldLayoutId id="2147483687" r:id="rId55"/>
    <p:sldLayoutId id="2147483808" r:id="rId56"/>
    <p:sldLayoutId id="2147483690" r:id="rId57"/>
    <p:sldLayoutId id="2147483681" r:id="rId58"/>
    <p:sldLayoutId id="2147483682" r:id="rId59"/>
    <p:sldLayoutId id="2147483711" r:id="rId60"/>
    <p:sldLayoutId id="2147483678" r:id="rId61"/>
    <p:sldLayoutId id="2147483807" r:id="rId6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emens/gencmpclient/" TargetMode="External"/><Relationship Id="rId2" Type="http://schemas.openxmlformats.org/officeDocument/2006/relationships/hyperlink" Target="https://docs.openssl.org/master/man1/openssl-cmp/" TargetMode="Externa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ranjan.rajeev@siemens.com" TargetMode="External"/><Relationship Id="rId2" Type="http://schemas.openxmlformats.org/officeDocument/2006/relationships/hyperlink" Target="mailto:david.von.oheimb@siemens.com" TargetMode="External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Headline of the presentation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6"/>
            <a:ext cx="11376788" cy="2462213"/>
          </a:xfrm>
        </p:spPr>
        <p:txBody>
          <a:bodyPr/>
          <a:lstStyle/>
          <a:p>
            <a:r>
              <a:rPr lang="en-US" noProof="0" dirty="0"/>
              <a:t>OpenSSL and genCMPClient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14414CC-0D3D-4B70-91D9-2F124E04E6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E14A8A3-196B-592C-1753-644A60AE1DDD}"/>
              </a:ext>
            </a:extLst>
          </p:cNvPr>
          <p:cNvSpPr txBox="1">
            <a:spLocks/>
          </p:cNvSpPr>
          <p:nvPr/>
        </p:nvSpPr>
        <p:spPr>
          <a:xfrm>
            <a:off x="1059160" y="6310800"/>
            <a:ext cx="8640003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spcBef>
                <a:spcPts val="0"/>
              </a:spcBef>
              <a:buClr>
                <a:schemeClr val="accent1"/>
              </a:buClr>
              <a:defRPr sz="1800"/>
            </a:lvl1pPr>
            <a:lvl2pPr marL="180000" indent="-1800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2pPr>
            <a:lvl3pPr marL="360000" indent="-1800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540000" indent="-1800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4pPr>
            <a:lvl5pPr marL="720000" indent="-1800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5pPr>
            <a:lvl6pPr marL="900000" indent="-1800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6pPr>
            <a:lvl7pPr marL="1080000" indent="-1800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7pPr>
            <a:lvl8pPr marL="1260000" indent="-1800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8pPr>
            <a:lvl9pPr marL="1440000" indent="-180000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US" sz="1400" dirty="0">
                <a:solidFill>
                  <a:schemeClr val="tx1"/>
                </a:solidFill>
              </a:rPr>
              <a:t>Restricted | © Siemens 2026 | von Oheimb |  FT RPD CST SEA | March 2026</a:t>
            </a:r>
          </a:p>
        </p:txBody>
      </p:sp>
    </p:spTree>
    <p:extLst>
      <p:ext uri="{BB962C8B-B14F-4D97-AF65-F5344CB8AC3E}">
        <p14:creationId xmlns:p14="http://schemas.microsoft.com/office/powerpoint/2010/main" val="105320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047C0-1A36-EEF2-CBC4-5501CA98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DCC74-28E9-5E81-9729-25571BC0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hlinkClick r:id="rId2"/>
              </a:rPr>
              <a:t>OpenSSL CMP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noProof="0" dirty="0">
                <a:solidFill>
                  <a:srgbClr val="FFFFFF"/>
                </a:solidFill>
              </a:rPr>
              <a:t>and </a:t>
            </a:r>
            <a:r>
              <a:rPr lang="en-US" noProof="0" dirty="0">
                <a:solidFill>
                  <a:srgbClr val="FFFFFF"/>
                </a:solidFill>
                <a:hlinkClick r:id="rId3"/>
              </a:rPr>
              <a:t>genCMPClient</a:t>
            </a:r>
            <a:r>
              <a:rPr lang="en-US" noProof="0" dirty="0">
                <a:solidFill>
                  <a:srgbClr val="FFFFFF"/>
                </a:solidFill>
              </a:rPr>
              <a:t> in a nutshell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A530A4-7356-AE55-2039-8EFB2CFDC3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3" name="Footer Placeholder">
            <a:extLst>
              <a:ext uri="{FF2B5EF4-FFF2-40B4-BE49-F238E27FC236}">
                <a16:creationId xmlns:a16="http://schemas.microsoft.com/office/drawing/2014/main" id="{B0578A11-92B0-201A-9D45-BF0B6425A2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2026 | von Oheimb |  FT RPD CST SEA | March 2026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09EE864-5222-DDE6-8BC3-4B083267F789}"/>
              </a:ext>
            </a:extLst>
          </p:cNvPr>
          <p:cNvGrpSpPr/>
          <p:nvPr/>
        </p:nvGrpSpPr>
        <p:grpSpPr>
          <a:xfrm>
            <a:off x="5215790" y="862715"/>
            <a:ext cx="6161749" cy="5309655"/>
            <a:chOff x="3855076" y="971572"/>
            <a:chExt cx="6161749" cy="5309655"/>
          </a:xfrm>
        </p:grpSpPr>
        <p:sp>
          <p:nvSpPr>
            <p:cNvPr id="12" name="Rechteck: abgerundete Ecken 12">
              <a:extLst>
                <a:ext uri="{FF2B5EF4-FFF2-40B4-BE49-F238E27FC236}">
                  <a16:creationId xmlns:a16="http://schemas.microsoft.com/office/drawing/2014/main" id="{6AA6231F-4F80-8EA3-894B-6CF095D62A17}"/>
                </a:ext>
              </a:extLst>
            </p:cNvPr>
            <p:cNvSpPr/>
            <p:nvPr/>
          </p:nvSpPr>
          <p:spPr>
            <a:xfrm rot="16200000">
              <a:off x="7460301" y="-792123"/>
              <a:ext cx="792830" cy="4320219"/>
            </a:xfrm>
            <a:prstGeom prst="roundRect">
              <a:avLst/>
            </a:prstGeom>
            <a:noFill/>
            <a:ln w="571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>
                <a:solidFill>
                  <a:srgbClr val="FFFFFF"/>
                </a:solidFill>
              </a:endParaRPr>
            </a:p>
          </p:txBody>
        </p:sp>
        <p:sp>
          <p:nvSpPr>
            <p:cNvPr id="13" name="Textfeld 13">
              <a:extLst>
                <a:ext uri="{FF2B5EF4-FFF2-40B4-BE49-F238E27FC236}">
                  <a16:creationId xmlns:a16="http://schemas.microsoft.com/office/drawing/2014/main" id="{494335C8-5199-E136-3FCB-27A2AF18E925}"/>
                </a:ext>
              </a:extLst>
            </p:cNvPr>
            <p:cNvSpPr txBox="1"/>
            <p:nvPr/>
          </p:nvSpPr>
          <p:spPr>
            <a:xfrm>
              <a:off x="5822546" y="1069599"/>
              <a:ext cx="406803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CMP request and response messages</a:t>
              </a:r>
              <a:br>
                <a:rPr lang="en-US" dirty="0">
                  <a:solidFill>
                    <a:srgbClr val="FFFFFF"/>
                  </a:solidFill>
                </a:rPr>
              </a:br>
              <a:r>
                <a:rPr lang="en-US" dirty="0">
                  <a:solidFill>
                    <a:srgbClr val="FFFFFF"/>
                  </a:solidFill>
                </a:rPr>
                <a:t>typically exchanged via HTTP(S)</a:t>
              </a:r>
            </a:p>
          </p:txBody>
        </p:sp>
        <p:sp>
          <p:nvSpPr>
            <p:cNvPr id="14" name="Rechteck: abgerundete Ecken 14">
              <a:extLst>
                <a:ext uri="{FF2B5EF4-FFF2-40B4-BE49-F238E27FC236}">
                  <a16:creationId xmlns:a16="http://schemas.microsoft.com/office/drawing/2014/main" id="{1D439BD7-F8C5-D00B-5234-4AB5572FA37F}"/>
                </a:ext>
              </a:extLst>
            </p:cNvPr>
            <p:cNvSpPr/>
            <p:nvPr/>
          </p:nvSpPr>
          <p:spPr>
            <a:xfrm>
              <a:off x="3855076" y="2519043"/>
              <a:ext cx="1494753" cy="1899991"/>
            </a:xfrm>
            <a:prstGeom prst="round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noProof="0">
                <a:solidFill>
                  <a:srgbClr val="FFFFFF"/>
                </a:solidFill>
              </a:endParaRPr>
            </a:p>
          </p:txBody>
        </p:sp>
        <p:sp>
          <p:nvSpPr>
            <p:cNvPr id="15" name="Textfeld 15">
              <a:extLst>
                <a:ext uri="{FF2B5EF4-FFF2-40B4-BE49-F238E27FC236}">
                  <a16:creationId xmlns:a16="http://schemas.microsoft.com/office/drawing/2014/main" id="{41D402F0-8AC1-3C71-6E2B-980CB20B5DA5}"/>
                </a:ext>
              </a:extLst>
            </p:cNvPr>
            <p:cNvSpPr txBox="1"/>
            <p:nvPr/>
          </p:nvSpPr>
          <p:spPr>
            <a:xfrm>
              <a:off x="3962400" y="2775407"/>
              <a:ext cx="1350121" cy="13849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configuration </a:t>
              </a:r>
              <a:br>
                <a:rPr lang="en-US" dirty="0">
                  <a:solidFill>
                    <a:srgbClr val="FFFFFF"/>
                  </a:solidFill>
                </a:rPr>
              </a:br>
              <a:r>
                <a:rPr lang="en-US" dirty="0">
                  <a:solidFill>
                    <a:srgbClr val="FFFFFF"/>
                  </a:solidFill>
                </a:rPr>
                <a:t>API input</a:t>
              </a:r>
              <a:br>
                <a:rPr lang="en-US" dirty="0">
                  <a:solidFill>
                    <a:srgbClr val="FFFFFF"/>
                  </a:solidFill>
                </a:rPr>
              </a:br>
              <a:r>
                <a:rPr lang="en-US" dirty="0">
                  <a:solidFill>
                    <a:srgbClr val="FFFFFF"/>
                  </a:solidFill>
                </a:rPr>
                <a:t>low-level</a:t>
              </a:r>
              <a:br>
                <a:rPr lang="en-US" dirty="0">
                  <a:solidFill>
                    <a:srgbClr val="FFFFFF"/>
                  </a:solidFill>
                </a:rPr>
              </a:br>
              <a:r>
                <a:rPr lang="en-US" dirty="0">
                  <a:solidFill>
                    <a:srgbClr val="FFFFFF"/>
                  </a:solidFill>
                </a:rPr>
                <a:t>and / or</a:t>
              </a:r>
              <a:br>
                <a:rPr lang="en-US" dirty="0">
                  <a:solidFill>
                    <a:srgbClr val="FFFFFF"/>
                  </a:solidFill>
                </a:rPr>
              </a:br>
              <a:r>
                <a:rPr lang="en-US" dirty="0">
                  <a:solidFill>
                    <a:srgbClr val="FFFFFF"/>
                  </a:solidFill>
                </a:rPr>
                <a:t>high-level</a:t>
              </a:r>
            </a:p>
          </p:txBody>
        </p:sp>
        <p:sp>
          <p:nvSpPr>
            <p:cNvPr id="16" name="Pfeil: nach rechts 17">
              <a:extLst>
                <a:ext uri="{FF2B5EF4-FFF2-40B4-BE49-F238E27FC236}">
                  <a16:creationId xmlns:a16="http://schemas.microsoft.com/office/drawing/2014/main" id="{94E546BA-AC71-990E-8E4E-993730F2C8D3}"/>
                </a:ext>
              </a:extLst>
            </p:cNvPr>
            <p:cNvSpPr/>
            <p:nvPr/>
          </p:nvSpPr>
          <p:spPr>
            <a:xfrm>
              <a:off x="5522291" y="3044744"/>
              <a:ext cx="426337" cy="501660"/>
            </a:xfrm>
            <a:prstGeom prst="rightArrow">
              <a:avLst/>
            </a:prstGeom>
            <a:noFill/>
            <a:ln w="3810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>
                <a:solidFill>
                  <a:srgbClr val="FFFFFF"/>
                </a:solidFill>
              </a:endParaRPr>
            </a:p>
          </p:txBody>
        </p:sp>
        <p:sp>
          <p:nvSpPr>
            <p:cNvPr id="18" name="Pfeil: nach rechts 19">
              <a:extLst>
                <a:ext uri="{FF2B5EF4-FFF2-40B4-BE49-F238E27FC236}">
                  <a16:creationId xmlns:a16="http://schemas.microsoft.com/office/drawing/2014/main" id="{1F9CB7F0-5622-9AEE-151D-939EEF670BA8}"/>
                </a:ext>
              </a:extLst>
            </p:cNvPr>
            <p:cNvSpPr/>
            <p:nvPr/>
          </p:nvSpPr>
          <p:spPr>
            <a:xfrm rot="16200000">
              <a:off x="7647039" y="1903077"/>
              <a:ext cx="429681" cy="411754"/>
            </a:xfrm>
            <a:prstGeom prst="rightArrow">
              <a:avLst/>
            </a:prstGeom>
            <a:noFill/>
            <a:ln w="3810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>
                <a:solidFill>
                  <a:srgbClr val="FFFFFF"/>
                </a:solidFill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2EF7C37-DA64-1540-A86A-81FF409988C2}"/>
                </a:ext>
              </a:extLst>
            </p:cNvPr>
            <p:cNvGrpSpPr/>
            <p:nvPr/>
          </p:nvGrpSpPr>
          <p:grpSpPr>
            <a:xfrm>
              <a:off x="6047195" y="2455529"/>
              <a:ext cx="3690260" cy="1287153"/>
              <a:chOff x="6047195" y="2607932"/>
              <a:chExt cx="3690260" cy="1287153"/>
            </a:xfrm>
          </p:grpSpPr>
          <p:sp>
            <p:nvSpPr>
              <p:cNvPr id="5" name="Rechteck: abgerundete Ecken 16">
                <a:extLst>
                  <a:ext uri="{FF2B5EF4-FFF2-40B4-BE49-F238E27FC236}">
                    <a16:creationId xmlns:a16="http://schemas.microsoft.com/office/drawing/2014/main" id="{1C3AC242-B3E3-E4A4-970A-8E6F1BEB4246}"/>
                  </a:ext>
                </a:extLst>
              </p:cNvPr>
              <p:cNvSpPr/>
              <p:nvPr/>
            </p:nvSpPr>
            <p:spPr>
              <a:xfrm rot="16200000">
                <a:off x="7248748" y="1406379"/>
                <a:ext cx="1287153" cy="3690260"/>
              </a:xfrm>
              <a:prstGeom prst="roundRect">
                <a:avLst/>
              </a:prstGeom>
              <a:noFill/>
              <a:ln w="571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de-DE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76FE8F-3C0D-5EB2-796B-EF54101973E3}"/>
                  </a:ext>
                </a:extLst>
              </p:cNvPr>
              <p:cNvSpPr txBox="1"/>
              <p:nvPr/>
            </p:nvSpPr>
            <p:spPr>
              <a:xfrm>
                <a:off x="6200320" y="2629705"/>
                <a:ext cx="349884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noProof="0" dirty="0">
                    <a:solidFill>
                      <a:srgbClr val="00B0F0"/>
                    </a:solidFill>
                  </a:rPr>
                  <a:t>OpenSSL core library </a:t>
                </a:r>
                <a:r>
                  <a:rPr lang="en-US" noProof="0" dirty="0">
                    <a:solidFill>
                      <a:srgbClr val="FFFFFF"/>
                    </a:solidFill>
                  </a:rPr>
                  <a:t>supporting</a:t>
                </a:r>
                <a:br>
                  <a:rPr lang="en-US" noProof="0" dirty="0">
                    <a:solidFill>
                      <a:srgbClr val="FFFFFF"/>
                    </a:solidFill>
                  </a:rPr>
                </a:br>
                <a:r>
                  <a:rPr lang="en-US" noProof="0" dirty="0">
                    <a:solidFill>
                      <a:srgbClr val="FFFFFF"/>
                    </a:solidFill>
                  </a:rPr>
                  <a:t>generic CMP+CRMF message </a:t>
                </a:r>
              </a:p>
              <a:p>
                <a:r>
                  <a:rPr lang="en-US" dirty="0">
                    <a:solidFill>
                      <a:srgbClr val="FFFFFF"/>
                    </a:solidFill>
                  </a:rPr>
                  <a:t>generation, protection, validation</a:t>
                </a:r>
                <a:br>
                  <a:rPr lang="en-US" dirty="0">
                    <a:solidFill>
                      <a:srgbClr val="FFFFFF"/>
                    </a:solidFill>
                  </a:rPr>
                </a:br>
                <a:r>
                  <a:rPr lang="en-US" dirty="0">
                    <a:solidFill>
                      <a:srgbClr val="FFFFFF"/>
                    </a:solidFill>
                  </a:rPr>
                  <a:t>and HTTP optionally over TLS</a:t>
                </a:r>
                <a:endParaRPr lang="en-US" noProof="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" name="Rechteck: abgerundete Ecken 8">
              <a:extLst>
                <a:ext uri="{FF2B5EF4-FFF2-40B4-BE49-F238E27FC236}">
                  <a16:creationId xmlns:a16="http://schemas.microsoft.com/office/drawing/2014/main" id="{AA8E784D-5355-49FC-1B89-261657B2A53F}"/>
                </a:ext>
              </a:extLst>
            </p:cNvPr>
            <p:cNvSpPr/>
            <p:nvPr/>
          </p:nvSpPr>
          <p:spPr>
            <a:xfrm>
              <a:off x="6322040" y="5857871"/>
              <a:ext cx="2996132" cy="423356"/>
            </a:xfrm>
            <a:prstGeom prst="roundRect">
              <a:avLst/>
            </a:prstGeom>
            <a:noFill/>
            <a:ln w="5715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>
                <a:solidFill>
                  <a:srgbClr val="FFFFFF"/>
                </a:solidFill>
              </a:endParaRPr>
            </a:p>
          </p:txBody>
        </p:sp>
        <p:sp>
          <p:nvSpPr>
            <p:cNvPr id="8" name="Pfeil: nach rechts 20">
              <a:extLst>
                <a:ext uri="{FF2B5EF4-FFF2-40B4-BE49-F238E27FC236}">
                  <a16:creationId xmlns:a16="http://schemas.microsoft.com/office/drawing/2014/main" id="{9D8D1867-E7D4-C647-F559-DE33891224FC}"/>
                </a:ext>
              </a:extLst>
            </p:cNvPr>
            <p:cNvSpPr/>
            <p:nvPr/>
          </p:nvSpPr>
          <p:spPr>
            <a:xfrm rot="16200000">
              <a:off x="7650202" y="5266200"/>
              <a:ext cx="423356" cy="411754"/>
            </a:xfrm>
            <a:prstGeom prst="rightArrow">
              <a:avLst/>
            </a:prstGeom>
            <a:noFill/>
            <a:ln w="3810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 dirty="0">
                <a:solidFill>
                  <a:srgbClr val="FFFFFF"/>
                </a:solidFill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B89E0F9-B4B4-050D-A813-73B59DE1FCA0}"/>
                </a:ext>
              </a:extLst>
            </p:cNvPr>
            <p:cNvGrpSpPr/>
            <p:nvPr/>
          </p:nvGrpSpPr>
          <p:grpSpPr>
            <a:xfrm>
              <a:off x="6047197" y="3750931"/>
              <a:ext cx="3690260" cy="519432"/>
              <a:chOff x="6047195" y="2607933"/>
              <a:chExt cx="3690260" cy="519432"/>
            </a:xfrm>
          </p:grpSpPr>
          <p:sp>
            <p:nvSpPr>
              <p:cNvPr id="27" name="Rechteck: abgerundete Ecken 16">
                <a:extLst>
                  <a:ext uri="{FF2B5EF4-FFF2-40B4-BE49-F238E27FC236}">
                    <a16:creationId xmlns:a16="http://schemas.microsoft.com/office/drawing/2014/main" id="{BC09FD1F-B6DA-905F-6E4E-F62C1D0E39F7}"/>
                  </a:ext>
                </a:extLst>
              </p:cNvPr>
              <p:cNvSpPr/>
              <p:nvPr/>
            </p:nvSpPr>
            <p:spPr>
              <a:xfrm rot="16200000">
                <a:off x="7632609" y="1022519"/>
                <a:ext cx="519432" cy="3690260"/>
              </a:xfrm>
              <a:prstGeom prst="roundRect">
                <a:avLst/>
              </a:prstGeom>
              <a:noFill/>
              <a:ln w="57150">
                <a:solidFill>
                  <a:srgbClr val="00B0F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de-DE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116DBC-55E7-3780-7A9F-AFEC98E08FE5}"/>
                  </a:ext>
                </a:extLst>
              </p:cNvPr>
              <p:cNvSpPr txBox="1"/>
              <p:nvPr/>
            </p:nvSpPr>
            <p:spPr>
              <a:xfrm>
                <a:off x="6200320" y="2662363"/>
                <a:ext cx="34988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noProof="0" dirty="0">
                    <a:solidFill>
                      <a:srgbClr val="00B0F0"/>
                    </a:solidFill>
                  </a:rPr>
                  <a:t>genCMPClient</a:t>
                </a:r>
                <a:r>
                  <a:rPr lang="en-US" noProof="0" dirty="0">
                    <a:solidFill>
                      <a:srgbClr val="FFFFFF"/>
                    </a:solidFill>
                  </a:rPr>
                  <a:t>: high-level API</a:t>
                </a:r>
              </a:p>
            </p:txBody>
          </p:sp>
        </p:grpSp>
        <p:sp>
          <p:nvSpPr>
            <p:cNvPr id="31" name="Pfeil: nach rechts 17">
              <a:extLst>
                <a:ext uri="{FF2B5EF4-FFF2-40B4-BE49-F238E27FC236}">
                  <a16:creationId xmlns:a16="http://schemas.microsoft.com/office/drawing/2014/main" id="{D0D4B2E2-4193-B7D1-82BC-9985B33CE8FF}"/>
                </a:ext>
              </a:extLst>
            </p:cNvPr>
            <p:cNvSpPr/>
            <p:nvPr/>
          </p:nvSpPr>
          <p:spPr>
            <a:xfrm>
              <a:off x="5522291" y="3772703"/>
              <a:ext cx="426337" cy="501660"/>
            </a:xfrm>
            <a:prstGeom prst="rightArrow">
              <a:avLst/>
            </a:prstGeom>
            <a:noFill/>
            <a:ln w="3810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>
                <a:solidFill>
                  <a:srgbClr val="FFFFFF"/>
                </a:solidFill>
              </a:endParaRPr>
            </a:p>
          </p:txBody>
        </p:sp>
        <p:sp>
          <p:nvSpPr>
            <p:cNvPr id="32" name="Rechteck: abgerundete Ecken 14">
              <a:extLst>
                <a:ext uri="{FF2B5EF4-FFF2-40B4-BE49-F238E27FC236}">
                  <a16:creationId xmlns:a16="http://schemas.microsoft.com/office/drawing/2014/main" id="{39DB7BD2-E2E1-DCAB-62C4-1062BA3C7603}"/>
                </a:ext>
              </a:extLst>
            </p:cNvPr>
            <p:cNvSpPr/>
            <p:nvPr/>
          </p:nvSpPr>
          <p:spPr>
            <a:xfrm>
              <a:off x="3855076" y="4545444"/>
              <a:ext cx="1494753" cy="646780"/>
            </a:xfrm>
            <a:prstGeom prst="roundRect">
              <a:avLst/>
            </a:prstGeom>
            <a:noFill/>
            <a:ln w="5715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noProof="0">
                <a:solidFill>
                  <a:srgbClr val="FFFFFF"/>
                </a:solidFill>
              </a:endParaRPr>
            </a:p>
          </p:txBody>
        </p:sp>
        <p:sp>
          <p:nvSpPr>
            <p:cNvPr id="33" name="Textfeld 15">
              <a:extLst>
                <a:ext uri="{FF2B5EF4-FFF2-40B4-BE49-F238E27FC236}">
                  <a16:creationId xmlns:a16="http://schemas.microsoft.com/office/drawing/2014/main" id="{017AD92F-023A-8D01-DC66-4E008844245A}"/>
                </a:ext>
              </a:extLst>
            </p:cNvPr>
            <p:cNvSpPr txBox="1"/>
            <p:nvPr/>
          </p:nvSpPr>
          <p:spPr>
            <a:xfrm>
              <a:off x="3962399" y="4565126"/>
              <a:ext cx="135012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configuration </a:t>
              </a:r>
              <a:br>
                <a:rPr lang="en-US" dirty="0">
                  <a:solidFill>
                    <a:srgbClr val="FFFFFF"/>
                  </a:solidFill>
                </a:rPr>
              </a:br>
              <a:r>
                <a:rPr lang="en-US" dirty="0">
                  <a:solidFill>
                    <a:srgbClr val="FFFFFF"/>
                  </a:solidFill>
                </a:rPr>
                <a:t>file input</a:t>
              </a:r>
            </a:p>
          </p:txBody>
        </p:sp>
        <p:sp>
          <p:nvSpPr>
            <p:cNvPr id="34" name="Textfeld 13">
              <a:extLst>
                <a:ext uri="{FF2B5EF4-FFF2-40B4-BE49-F238E27FC236}">
                  <a16:creationId xmlns:a16="http://schemas.microsoft.com/office/drawing/2014/main" id="{BBD37841-9A4B-FE3B-6AFD-E8799520BA29}"/>
                </a:ext>
              </a:extLst>
            </p:cNvPr>
            <p:cNvSpPr txBox="1"/>
            <p:nvPr/>
          </p:nvSpPr>
          <p:spPr>
            <a:xfrm>
              <a:off x="6444343" y="5936589"/>
              <a:ext cx="278674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Key storage and CSR input</a:t>
              </a:r>
            </a:p>
          </p:txBody>
        </p:sp>
        <p:sp>
          <p:nvSpPr>
            <p:cNvPr id="35" name="Pfeil: nach rechts 17">
              <a:extLst>
                <a:ext uri="{FF2B5EF4-FFF2-40B4-BE49-F238E27FC236}">
                  <a16:creationId xmlns:a16="http://schemas.microsoft.com/office/drawing/2014/main" id="{8CAA2881-933B-83C7-FE06-84F12E645A86}"/>
                </a:ext>
              </a:extLst>
            </p:cNvPr>
            <p:cNvSpPr/>
            <p:nvPr/>
          </p:nvSpPr>
          <p:spPr>
            <a:xfrm>
              <a:off x="5500517" y="4589134"/>
              <a:ext cx="426337" cy="501660"/>
            </a:xfrm>
            <a:prstGeom prst="rightArrow">
              <a:avLst/>
            </a:prstGeom>
            <a:noFill/>
            <a:ln w="3810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>
                <a:solidFill>
                  <a:srgbClr val="FFFFFF"/>
                </a:solidFill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1F060B9-815B-42E9-37ED-5E21726A010C}"/>
                </a:ext>
              </a:extLst>
            </p:cNvPr>
            <p:cNvGrpSpPr/>
            <p:nvPr/>
          </p:nvGrpSpPr>
          <p:grpSpPr>
            <a:xfrm>
              <a:off x="6036310" y="4589129"/>
              <a:ext cx="3690260" cy="519432"/>
              <a:chOff x="6047195" y="2607933"/>
              <a:chExt cx="3690260" cy="519432"/>
            </a:xfrm>
          </p:grpSpPr>
          <p:sp>
            <p:nvSpPr>
              <p:cNvPr id="37" name="Rechteck: abgerundete Ecken 16">
                <a:extLst>
                  <a:ext uri="{FF2B5EF4-FFF2-40B4-BE49-F238E27FC236}">
                    <a16:creationId xmlns:a16="http://schemas.microsoft.com/office/drawing/2014/main" id="{66DB01C0-E149-1D3C-3576-6832A2784C75}"/>
                  </a:ext>
                </a:extLst>
              </p:cNvPr>
              <p:cNvSpPr/>
              <p:nvPr/>
            </p:nvSpPr>
            <p:spPr>
              <a:xfrm rot="16200000">
                <a:off x="7632609" y="1022519"/>
                <a:ext cx="519432" cy="3690260"/>
              </a:xfrm>
              <a:prstGeom prst="roundRect">
                <a:avLst/>
              </a:prstGeom>
              <a:noFill/>
              <a:ln w="57150"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de-DE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D643676-3277-2067-2AC3-896A185CB4C0}"/>
                  </a:ext>
                </a:extLst>
              </p:cNvPr>
              <p:cNvSpPr txBox="1"/>
              <p:nvPr/>
            </p:nvSpPr>
            <p:spPr>
              <a:xfrm>
                <a:off x="6200320" y="2662363"/>
                <a:ext cx="34988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noProof="0" dirty="0">
                    <a:solidFill>
                      <a:schemeClr val="tx1"/>
                    </a:solidFill>
                  </a:rPr>
                  <a:t>genCMPClient/OpenSSL </a:t>
                </a:r>
                <a:r>
                  <a:rPr lang="en-US" noProof="0" dirty="0">
                    <a:solidFill>
                      <a:srgbClr val="00B0F0"/>
                    </a:solidFill>
                  </a:rPr>
                  <a:t>CLI</a:t>
                </a:r>
              </a:p>
            </p:txBody>
          </p:sp>
        </p:grpSp>
      </p:grpSp>
      <p:sp>
        <p:nvSpPr>
          <p:cNvPr id="40" name="Textfeld 7">
            <a:extLst>
              <a:ext uri="{FF2B5EF4-FFF2-40B4-BE49-F238E27FC236}">
                <a16:creationId xmlns:a16="http://schemas.microsoft.com/office/drawing/2014/main" id="{8566AC9D-6A85-7235-2894-A1B2B147E186}"/>
              </a:ext>
            </a:extLst>
          </p:cNvPr>
          <p:cNvSpPr txBox="1"/>
          <p:nvPr/>
        </p:nvSpPr>
        <p:spPr>
          <a:xfrm>
            <a:off x="315687" y="1244495"/>
            <a:ext cx="4550228" cy="4431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Open-source C </a:t>
            </a:r>
            <a:r>
              <a:rPr lang="en-US">
                <a:solidFill>
                  <a:srgbClr val="FFFFFF"/>
                </a:solidFill>
              </a:rPr>
              <a:t>implementation of</a:t>
            </a:r>
            <a:br>
              <a:rPr lang="en-US" noProof="0" dirty="0">
                <a:solidFill>
                  <a:srgbClr val="FFFFFF"/>
                </a:solidFill>
              </a:rPr>
            </a:br>
            <a:r>
              <a:rPr lang="en-US" noProof="0" dirty="0">
                <a:solidFill>
                  <a:srgbClr val="FFFFFF"/>
                </a:solidFill>
              </a:rPr>
              <a:t>latest CMP standards: [RFC 9483] etc.</a:t>
            </a:r>
            <a:br>
              <a:rPr lang="en-US" noProof="0" dirty="0">
                <a:solidFill>
                  <a:srgbClr val="FFFFFF"/>
                </a:solidFill>
              </a:rPr>
            </a:br>
            <a:r>
              <a:rPr lang="en-US" noProof="0" dirty="0">
                <a:solidFill>
                  <a:srgbClr val="FFFFFF"/>
                </a:solidFill>
              </a:rPr>
              <a:t>based on OpenSSL with provider support</a:t>
            </a:r>
          </a:p>
          <a:p>
            <a:pPr algn="l"/>
            <a:endParaRPr lang="en-US" noProof="0" dirty="0">
              <a:solidFill>
                <a:srgbClr val="FFFFFF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FFFFFF"/>
                </a:solidFill>
              </a:rPr>
              <a:t>Encapsulates functions and logic in a </a:t>
            </a:r>
            <a:r>
              <a:rPr lang="en-US" noProof="0" dirty="0">
                <a:solidFill>
                  <a:srgbClr val="00B0F0"/>
                </a:solidFill>
              </a:rPr>
              <a:t>library and CLI that can be integrated </a:t>
            </a:r>
            <a:r>
              <a:rPr lang="en-US" dirty="0">
                <a:solidFill>
                  <a:srgbClr val="00B0F0"/>
                </a:solidFill>
              </a:rPr>
              <a:t>in CMP client and server applications</a:t>
            </a:r>
            <a:r>
              <a:rPr lang="en-US" noProof="0" dirty="0">
                <a:solidFill>
                  <a:srgbClr val="00B0F0"/>
                </a:solidFill>
              </a:rPr>
              <a:t> </a:t>
            </a:r>
            <a:br>
              <a:rPr lang="en-US" noProof="0" dirty="0">
                <a:solidFill>
                  <a:srgbClr val="00B0F0"/>
                </a:solidFill>
              </a:rPr>
            </a:br>
            <a:endParaRPr lang="en-US" noProof="0" dirty="0">
              <a:solidFill>
                <a:srgbClr val="00B0F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High-level genCMPClient API </a:t>
            </a:r>
            <a:r>
              <a:rPr lang="en-US" dirty="0">
                <a:solidFill>
                  <a:srgbClr val="FFFFFF"/>
                </a:solidFill>
              </a:rPr>
              <a:t>allows use </a:t>
            </a:r>
            <a:r>
              <a:rPr lang="en-US" noProof="0" dirty="0">
                <a:solidFill>
                  <a:srgbClr val="FFFFFF"/>
                </a:solidFill>
              </a:rPr>
              <a:t>without bothering about CMP details,</a:t>
            </a:r>
            <a:br>
              <a:rPr lang="en-US" noProof="0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provides also</a:t>
            </a:r>
            <a:r>
              <a:rPr lang="en-US" noProof="0" dirty="0">
                <a:solidFill>
                  <a:srgbClr val="FFFFFF"/>
                </a:solidFill>
              </a:rPr>
              <a:t> </a:t>
            </a:r>
            <a:r>
              <a:rPr lang="en-US" noProof="0" dirty="0" err="1">
                <a:solidFill>
                  <a:srgbClr val="FFFFFF"/>
                </a:solidFill>
              </a:rPr>
              <a:t>SecUtils</a:t>
            </a:r>
            <a:r>
              <a:rPr lang="en-US" noProof="0" dirty="0">
                <a:solidFill>
                  <a:srgbClr val="FFFFFF"/>
                </a:solidFill>
              </a:rPr>
              <a:t> convenience layer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Used by DI, SI, and SMO for many different CMP clients at API or CLI level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Used by SI EA for GridPass CMP server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35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E2BC-7D6D-5D7A-64E3-0365ED1DC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AA655242-15DF-5D1F-D894-7CCBEE39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Contact</a:t>
            </a:r>
          </a:p>
        </p:txBody>
      </p:sp>
      <p:sp>
        <p:nvSpPr>
          <p:cNvPr id="4" name="Subtitle" descr="Sample contact data">
            <a:extLst>
              <a:ext uri="{FF2B5EF4-FFF2-40B4-BE49-F238E27FC236}">
                <a16:creationId xmlns:a16="http://schemas.microsoft.com/office/drawing/2014/main" id="{EBF2128B-2A4E-ECA1-8E45-A67A64FB5265}"/>
              </a:ext>
            </a:extLst>
          </p:cNvPr>
          <p:cNvSpPr txBox="1">
            <a:spLocks/>
          </p:cNvSpPr>
          <p:nvPr/>
        </p:nvSpPr>
        <p:spPr bwMode="black">
          <a:xfrm>
            <a:off x="1058400" y="2789930"/>
            <a:ext cx="5037600" cy="3110127"/>
          </a:xfrm>
          <a:prstGeom prst="rect">
            <a:avLst/>
          </a:prstGeom>
        </p:spPr>
        <p:txBody>
          <a:bodyPr vert="horz" lIns="0" tIns="108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Dr. David von Oheimb</a:t>
            </a:r>
          </a:p>
          <a:p>
            <a:r>
              <a:rPr lang="en-US" dirty="0"/>
              <a:t>FT RPD CST SEA-DE</a:t>
            </a:r>
          </a:p>
          <a:p>
            <a:r>
              <a:rPr lang="en-US" dirty="0">
                <a:hlinkClick r:id="rId2"/>
              </a:rPr>
              <a:t>david.von.oheimb@siemens.com</a:t>
            </a:r>
            <a:r>
              <a:rPr lang="en-US" dirty="0"/>
              <a:t> </a:t>
            </a:r>
          </a:p>
          <a:p>
            <a:pPr>
              <a:buClrTx/>
            </a:pPr>
            <a:r>
              <a:rPr lang="en-US" dirty="0"/>
              <a:t> </a:t>
            </a:r>
          </a:p>
          <a:p>
            <a:pPr>
              <a:buClrTx/>
            </a:pPr>
            <a:r>
              <a:rPr lang="en-US" b="1" noProof="0" dirty="0"/>
              <a:t>Rajeev Ranjan</a:t>
            </a:r>
          </a:p>
          <a:p>
            <a:pPr>
              <a:buClrTx/>
            </a:pPr>
            <a:r>
              <a:rPr lang="en-US" noProof="0" dirty="0"/>
              <a:t>FT RPD CST SEA-DE</a:t>
            </a:r>
          </a:p>
          <a:p>
            <a:pPr>
              <a:buClrTx/>
            </a:pPr>
            <a:r>
              <a:rPr lang="en-US" noProof="0" dirty="0">
                <a:hlinkClick r:id="rId3"/>
              </a:rPr>
              <a:t>ranjan.rajeev@siemens.com</a:t>
            </a:r>
            <a:endParaRPr lang="en-US" noProof="0" dirty="0"/>
          </a:p>
          <a:p>
            <a:pPr>
              <a:buClrTx/>
            </a:pPr>
            <a:endParaRPr lang="en-US" noProof="0" dirty="0"/>
          </a:p>
          <a:p>
            <a:r>
              <a:rPr lang="en-US" b="1" noProof="0" dirty="0"/>
              <a:t>Hendrik Brockhaus</a:t>
            </a:r>
          </a:p>
          <a:p>
            <a:r>
              <a:rPr lang="en-US" noProof="0" dirty="0"/>
              <a:t>FT RPD CST SEA-DE</a:t>
            </a:r>
          </a:p>
          <a:p>
            <a:r>
              <a:rPr lang="en-US" noProof="0" dirty="0">
                <a:hlinkClick r:id="rId2"/>
              </a:rPr>
              <a:t>hendrik.brockhaus@siemens.com</a:t>
            </a:r>
            <a:r>
              <a:rPr lang="en-US" noProof="0" dirty="0"/>
              <a:t> </a:t>
            </a:r>
          </a:p>
          <a:p>
            <a:pPr>
              <a:buClrTx/>
            </a:pPr>
            <a:r>
              <a:rPr lang="en-US" noProof="0" dirty="0"/>
              <a:t> </a:t>
            </a:r>
          </a:p>
          <a:p>
            <a:pPr>
              <a:buClrTx/>
            </a:pPr>
            <a:endParaRPr lang="en-US" noProof="0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54E138-3CB3-A778-BEE7-4DB07029C2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2026 | von Oheimb |  FT RPD CST SEA | March 2026</a:t>
            </a:r>
          </a:p>
        </p:txBody>
      </p:sp>
    </p:spTree>
    <p:extLst>
      <p:ext uri="{BB962C8B-B14F-4D97-AF65-F5344CB8AC3E}">
        <p14:creationId xmlns:p14="http://schemas.microsoft.com/office/powerpoint/2010/main" val="162316013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CD6C532085F8449DFAA9E5E2A73509" ma:contentTypeVersion="23" ma:contentTypeDescription="Create a new document." ma:contentTypeScope="" ma:versionID="af76fbf193eb45a66db61f60a7cbff52">
  <xsd:schema xmlns:xsd="http://www.w3.org/2001/XMLSchema" xmlns:xs="http://www.w3.org/2001/XMLSchema" xmlns:p="http://schemas.microsoft.com/office/2006/metadata/properties" xmlns:ns1="http://schemas.microsoft.com/sharepoint/v3" xmlns:ns2="ce079751-a51b-4a27-9376-edf93eae18d5" xmlns:ns3="a9de424c-86b2-47ed-8d4e-0a9b7010e669" xmlns:ns4="56810815-8df0-4f10-8da7-34164765fbe3" targetNamespace="http://schemas.microsoft.com/office/2006/metadata/properties" ma:root="true" ma:fieldsID="bd8cd1fc2b1a84dc4e90d6df165b6842" ns1:_="" ns2:_="" ns3:_="" ns4:_="">
    <xsd:import namespace="http://schemas.microsoft.com/sharepoint/v3"/>
    <xsd:import namespace="ce079751-a51b-4a27-9376-edf93eae18d5"/>
    <xsd:import namespace="a9de424c-86b2-47ed-8d4e-0a9b7010e669"/>
    <xsd:import namespace="56810815-8df0-4f10-8da7-34164765fbe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4:TaxCatchAll" minOccurs="0"/>
                <xsd:element ref="ns3:lcf76f155ced4ddcb4097134ff3c332f" minOccurs="0"/>
                <xsd:element ref="ns1:_ip_UnifiedCompliancePolicyProperties" minOccurs="0"/>
                <xsd:element ref="ns1:_ip_UnifiedCompliancePolicyUIAction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79751-a51b-4a27-9376-edf93eae18d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de424c-86b2-47ed-8d4e-0a9b7010e6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0815-8df0-4f10-8da7-34164765fbe3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c015a078-2538-49e9-8176-d5282097e92f}" ma:internalName="TaxCatchAll" ma:showField="CatchAllData" ma:web="ce079751-a51b-4a27-9376-edf93eae18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56810815-8df0-4f10-8da7-34164765fbe3" xsi:nil="true"/>
    <_ip_UnifiedCompliancePolicyProperties xmlns="http://schemas.microsoft.com/sharepoint/v3" xsi:nil="true"/>
    <lcf76f155ced4ddcb4097134ff3c332f xmlns="a9de424c-86b2-47ed-8d4e-0a9b7010e6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5A06F6-4DCF-4D9E-AEC7-8EAC18DAD573}">
  <ds:schemaRefs>
    <ds:schemaRef ds:uri="56810815-8df0-4f10-8da7-34164765fbe3"/>
    <ds:schemaRef ds:uri="a9de424c-86b2-47ed-8d4e-0a9b7010e669"/>
    <ds:schemaRef ds:uri="ce079751-a51b-4a27-9376-edf93eae18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D2F53E9-501A-4403-AE63-66ABD38237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47DEF8-475A-49AF-9EC0-31E376036475}">
  <ds:schemaRefs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ce079751-a51b-4a27-9376-edf93eae18d5"/>
    <ds:schemaRef ds:uri="http://purl.org/dc/dcmitype/"/>
    <ds:schemaRef ds:uri="a9de424c-86b2-47ed-8d4e-0a9b7010e669"/>
    <ds:schemaRef ds:uri="http://schemas.microsoft.com/office/2006/metadata/properties"/>
    <ds:schemaRef ds:uri="http://schemas.microsoft.com/office/2006/documentManagement/types"/>
    <ds:schemaRef ds:uri="56810815-8df0-4f10-8da7-34164765fbe3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257</Words>
  <Application>Microsoft Macintosh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Siemens 2022</vt:lpstr>
      <vt:lpstr>OpenSSL and genCMPClient overview</vt:lpstr>
      <vt:lpstr>OpenSSL CMP and genCMPClient in a nutshell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AG PowerPoint Presentation</dc:title>
  <dc:creator>Che, Kai (FT RPD CST SEA-DE)</dc:creator>
  <cp:keywords>Template</cp:keywords>
  <dc:description>Version 3.4.5
July 2025</dc:description>
  <cp:lastModifiedBy>von Oheimb, David (FT RPD CST SEA-DE)</cp:lastModifiedBy>
  <cp:revision>5</cp:revision>
  <dcterms:created xsi:type="dcterms:W3CDTF">2020-07-27T12:43:17Z</dcterms:created>
  <dcterms:modified xsi:type="dcterms:W3CDTF">2026-04-13T06:13:48Z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number">
    <vt:lpwstr>4.0.0</vt:lpwstr>
  </property>
  <property fmtid="{D5CDD505-2E9C-101B-9397-08002B2CF9AE}" pid="3" name="Language">
    <vt:lpwstr>English</vt:lpwstr>
  </property>
  <property fmtid="{D5CDD505-2E9C-101B-9397-08002B2CF9AE}" pid="4" name="ContentTypeId">
    <vt:lpwstr>0x01010035CD6C532085F8449DFAA9E5E2A73509</vt:lpwstr>
  </property>
  <property fmtid="{D5CDD505-2E9C-101B-9397-08002B2CF9AE}" pid="5" name="MediaServiceImageTags">
    <vt:lpwstr/>
  </property>
</Properties>
</file>